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ilita One" charset="1" panose="02000000000000000000"/>
      <p:regular r:id="rId17"/>
    </p:embeddedFont>
    <p:embeddedFont>
      <p:font typeface="Noot" charset="1" panose="00000000000000000000"/>
      <p:regular r:id="rId18"/>
    </p:embeddedFont>
    <p:embeddedFont>
      <p:font typeface="Roboto Bold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2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BBC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72692" y="-971198"/>
            <a:ext cx="4331055" cy="3140015"/>
          </a:xfrm>
          <a:custGeom>
            <a:avLst/>
            <a:gdLst/>
            <a:ahLst/>
            <a:cxnLst/>
            <a:rect r="r" b="b" t="t" l="l"/>
            <a:pathLst>
              <a:path h="3140015" w="4331055">
                <a:moveTo>
                  <a:pt x="0" y="0"/>
                </a:moveTo>
                <a:lnTo>
                  <a:pt x="4331055" y="0"/>
                </a:lnTo>
                <a:lnTo>
                  <a:pt x="4331055" y="3140014"/>
                </a:lnTo>
                <a:lnTo>
                  <a:pt x="0" y="31400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200612">
            <a:off x="2847146" y="7853581"/>
            <a:ext cx="3875086" cy="2809437"/>
          </a:xfrm>
          <a:custGeom>
            <a:avLst/>
            <a:gdLst/>
            <a:ahLst/>
            <a:cxnLst/>
            <a:rect r="r" b="b" t="t" l="l"/>
            <a:pathLst>
              <a:path h="2809437" w="3875086">
                <a:moveTo>
                  <a:pt x="0" y="0"/>
                </a:moveTo>
                <a:lnTo>
                  <a:pt x="3875086" y="0"/>
                </a:lnTo>
                <a:lnTo>
                  <a:pt x="3875086" y="2809438"/>
                </a:lnTo>
                <a:lnTo>
                  <a:pt x="0" y="28094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3659" y="1556901"/>
            <a:ext cx="16235641" cy="6841992"/>
            <a:chOff x="0" y="0"/>
            <a:chExt cx="21647521" cy="912265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69289"/>
              <a:ext cx="21647521" cy="9053367"/>
              <a:chOff x="0" y="0"/>
              <a:chExt cx="3098007" cy="129564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098007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3098007">
                    <a:moveTo>
                      <a:pt x="32159" y="0"/>
                    </a:moveTo>
                    <a:lnTo>
                      <a:pt x="3065848" y="0"/>
                    </a:lnTo>
                    <a:cubicBezTo>
                      <a:pt x="3074377" y="0"/>
                      <a:pt x="3082557" y="3388"/>
                      <a:pt x="3088588" y="9419"/>
                    </a:cubicBezTo>
                    <a:cubicBezTo>
                      <a:pt x="3094619" y="15450"/>
                      <a:pt x="3098007" y="23630"/>
                      <a:pt x="3098007" y="32159"/>
                    </a:cubicBezTo>
                    <a:lnTo>
                      <a:pt x="3098007" y="1263481"/>
                    </a:lnTo>
                    <a:cubicBezTo>
                      <a:pt x="3098007" y="1272010"/>
                      <a:pt x="3094619" y="1280190"/>
                      <a:pt x="3088588" y="1286221"/>
                    </a:cubicBezTo>
                    <a:cubicBezTo>
                      <a:pt x="3082557" y="1292252"/>
                      <a:pt x="3074377" y="1295640"/>
                      <a:pt x="3065848" y="1295640"/>
                    </a:cubicBezTo>
                    <a:lnTo>
                      <a:pt x="32159" y="1295640"/>
                    </a:lnTo>
                    <a:cubicBezTo>
                      <a:pt x="23630" y="1295640"/>
                      <a:pt x="15450" y="1292252"/>
                      <a:pt x="9419" y="1286221"/>
                    </a:cubicBezTo>
                    <a:cubicBezTo>
                      <a:pt x="3388" y="1280190"/>
                      <a:pt x="0" y="1272010"/>
                      <a:pt x="0" y="1263481"/>
                    </a:cubicBezTo>
                    <a:lnTo>
                      <a:pt x="0" y="32159"/>
                    </a:lnTo>
                    <a:cubicBezTo>
                      <a:pt x="0" y="23630"/>
                      <a:pt x="3388" y="15450"/>
                      <a:pt x="9419" y="9419"/>
                    </a:cubicBezTo>
                    <a:cubicBezTo>
                      <a:pt x="15450" y="3388"/>
                      <a:pt x="23630" y="0"/>
                      <a:pt x="32159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161925"/>
                <a:ext cx="3098007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0" y="0"/>
              <a:ext cx="21647521" cy="1804723"/>
              <a:chOff x="0" y="0"/>
              <a:chExt cx="3098007" cy="25827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3098007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3098007">
                    <a:moveTo>
                      <a:pt x="32159" y="0"/>
                    </a:moveTo>
                    <a:lnTo>
                      <a:pt x="3065848" y="0"/>
                    </a:lnTo>
                    <a:cubicBezTo>
                      <a:pt x="3074377" y="0"/>
                      <a:pt x="3082557" y="3388"/>
                      <a:pt x="3088588" y="9419"/>
                    </a:cubicBezTo>
                    <a:cubicBezTo>
                      <a:pt x="3094619" y="15450"/>
                      <a:pt x="3098007" y="23630"/>
                      <a:pt x="3098007" y="32159"/>
                    </a:cubicBezTo>
                    <a:lnTo>
                      <a:pt x="3098007" y="226117"/>
                    </a:lnTo>
                    <a:cubicBezTo>
                      <a:pt x="3098007" y="234646"/>
                      <a:pt x="3094619" y="242826"/>
                      <a:pt x="3088588" y="248857"/>
                    </a:cubicBezTo>
                    <a:cubicBezTo>
                      <a:pt x="3082557" y="254888"/>
                      <a:pt x="3074377" y="258276"/>
                      <a:pt x="3065848" y="258276"/>
                    </a:cubicBezTo>
                    <a:lnTo>
                      <a:pt x="32159" y="258276"/>
                    </a:lnTo>
                    <a:cubicBezTo>
                      <a:pt x="23630" y="258276"/>
                      <a:pt x="15450" y="254888"/>
                      <a:pt x="9419" y="248857"/>
                    </a:cubicBezTo>
                    <a:cubicBezTo>
                      <a:pt x="3388" y="242826"/>
                      <a:pt x="0" y="234646"/>
                      <a:pt x="0" y="226117"/>
                    </a:cubicBezTo>
                    <a:lnTo>
                      <a:pt x="0" y="32159"/>
                    </a:lnTo>
                    <a:cubicBezTo>
                      <a:pt x="0" y="23630"/>
                      <a:pt x="3388" y="15450"/>
                      <a:pt x="9419" y="9419"/>
                    </a:cubicBezTo>
                    <a:cubicBezTo>
                      <a:pt x="15450" y="3388"/>
                      <a:pt x="23630" y="0"/>
                      <a:pt x="32159" y="0"/>
                    </a:cubicBez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161925"/>
                <a:ext cx="3098007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902361"/>
              <a:ext cx="21647521" cy="902361"/>
              <a:chOff x="0" y="0"/>
              <a:chExt cx="3098007" cy="12913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098007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3098007">
                    <a:moveTo>
                      <a:pt x="0" y="0"/>
                    </a:moveTo>
                    <a:lnTo>
                      <a:pt x="3098007" y="0"/>
                    </a:lnTo>
                    <a:lnTo>
                      <a:pt x="3098007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161925"/>
                <a:ext cx="3098007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</p:grpSp>
      <p:sp>
        <p:nvSpPr>
          <p:cNvPr name="Freeform 14" id="14"/>
          <p:cNvSpPr/>
          <p:nvPr/>
        </p:nvSpPr>
        <p:spPr>
          <a:xfrm flipH="false" flipV="false" rot="-117467">
            <a:off x="4445258" y="5393380"/>
            <a:ext cx="1598072" cy="1891210"/>
          </a:xfrm>
          <a:custGeom>
            <a:avLst/>
            <a:gdLst/>
            <a:ahLst/>
            <a:cxnLst/>
            <a:rect r="r" b="b" t="t" l="l"/>
            <a:pathLst>
              <a:path h="1891210" w="1598072">
                <a:moveTo>
                  <a:pt x="0" y="0"/>
                </a:moveTo>
                <a:lnTo>
                  <a:pt x="1598072" y="0"/>
                </a:lnTo>
                <a:lnTo>
                  <a:pt x="1598072" y="1891210"/>
                </a:lnTo>
                <a:lnTo>
                  <a:pt x="0" y="18912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2000"/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359298" y="7485505"/>
            <a:ext cx="4331055" cy="3140015"/>
          </a:xfrm>
          <a:custGeom>
            <a:avLst/>
            <a:gdLst/>
            <a:ahLst/>
            <a:cxnLst/>
            <a:rect r="r" b="b" t="t" l="l"/>
            <a:pathLst>
              <a:path h="3140015" w="4331055">
                <a:moveTo>
                  <a:pt x="0" y="0"/>
                </a:moveTo>
                <a:lnTo>
                  <a:pt x="4331055" y="0"/>
                </a:lnTo>
                <a:lnTo>
                  <a:pt x="4331055" y="3140015"/>
                </a:lnTo>
                <a:lnTo>
                  <a:pt x="0" y="3140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11571">
            <a:off x="5703580" y="5564599"/>
            <a:ext cx="1160530" cy="1517032"/>
          </a:xfrm>
          <a:custGeom>
            <a:avLst/>
            <a:gdLst/>
            <a:ahLst/>
            <a:cxnLst/>
            <a:rect r="r" b="b" t="t" l="l"/>
            <a:pathLst>
              <a:path h="1517032" w="1160530">
                <a:moveTo>
                  <a:pt x="0" y="0"/>
                </a:moveTo>
                <a:lnTo>
                  <a:pt x="1160530" y="0"/>
                </a:lnTo>
                <a:lnTo>
                  <a:pt x="1160530" y="1517033"/>
                </a:lnTo>
                <a:lnTo>
                  <a:pt x="0" y="15170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782570" y="5576726"/>
            <a:ext cx="1144842" cy="1492780"/>
          </a:xfrm>
          <a:custGeom>
            <a:avLst/>
            <a:gdLst/>
            <a:ahLst/>
            <a:cxnLst/>
            <a:rect r="r" b="b" t="t" l="l"/>
            <a:pathLst>
              <a:path h="1492780" w="1144842">
                <a:moveTo>
                  <a:pt x="0" y="0"/>
                </a:moveTo>
                <a:lnTo>
                  <a:pt x="1144842" y="0"/>
                </a:lnTo>
                <a:lnTo>
                  <a:pt x="1144842" y="1492779"/>
                </a:lnTo>
                <a:lnTo>
                  <a:pt x="0" y="14927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26" t="0" r="-526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463857">
            <a:off x="7725434" y="5555879"/>
            <a:ext cx="1136025" cy="1646413"/>
          </a:xfrm>
          <a:custGeom>
            <a:avLst/>
            <a:gdLst/>
            <a:ahLst/>
            <a:cxnLst/>
            <a:rect r="r" b="b" t="t" l="l"/>
            <a:pathLst>
              <a:path h="1646413" w="1136025">
                <a:moveTo>
                  <a:pt x="0" y="0"/>
                </a:moveTo>
                <a:lnTo>
                  <a:pt x="1136025" y="0"/>
                </a:lnTo>
                <a:lnTo>
                  <a:pt x="1136025" y="1646413"/>
                </a:lnTo>
                <a:lnTo>
                  <a:pt x="0" y="16464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166126">
            <a:off x="8632741" y="5578479"/>
            <a:ext cx="1392471" cy="1489274"/>
          </a:xfrm>
          <a:custGeom>
            <a:avLst/>
            <a:gdLst/>
            <a:ahLst/>
            <a:cxnLst/>
            <a:rect r="r" b="b" t="t" l="l"/>
            <a:pathLst>
              <a:path h="1489274" w="1392471">
                <a:moveTo>
                  <a:pt x="0" y="0"/>
                </a:moveTo>
                <a:lnTo>
                  <a:pt x="1392471" y="0"/>
                </a:lnTo>
                <a:lnTo>
                  <a:pt x="1392471" y="1489273"/>
                </a:lnTo>
                <a:lnTo>
                  <a:pt x="0" y="14892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715436">
            <a:off x="9747542" y="5658775"/>
            <a:ext cx="1160584" cy="1406769"/>
          </a:xfrm>
          <a:custGeom>
            <a:avLst/>
            <a:gdLst/>
            <a:ahLst/>
            <a:cxnLst/>
            <a:rect r="r" b="b" t="t" l="l"/>
            <a:pathLst>
              <a:path h="1406769" w="1160584">
                <a:moveTo>
                  <a:pt x="0" y="0"/>
                </a:moveTo>
                <a:lnTo>
                  <a:pt x="1160584" y="0"/>
                </a:lnTo>
                <a:lnTo>
                  <a:pt x="1160584" y="1406768"/>
                </a:lnTo>
                <a:lnTo>
                  <a:pt x="0" y="14067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537618">
            <a:off x="11436911" y="5627583"/>
            <a:ext cx="1063178" cy="1518826"/>
          </a:xfrm>
          <a:custGeom>
            <a:avLst/>
            <a:gdLst/>
            <a:ahLst/>
            <a:cxnLst/>
            <a:rect r="r" b="b" t="t" l="l"/>
            <a:pathLst>
              <a:path h="1518826" w="1063178">
                <a:moveTo>
                  <a:pt x="0" y="0"/>
                </a:moveTo>
                <a:lnTo>
                  <a:pt x="1063178" y="0"/>
                </a:lnTo>
                <a:lnTo>
                  <a:pt x="1063178" y="1518826"/>
                </a:lnTo>
                <a:lnTo>
                  <a:pt x="0" y="15188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020901" y="5721647"/>
            <a:ext cx="1255708" cy="1314877"/>
          </a:xfrm>
          <a:custGeom>
            <a:avLst/>
            <a:gdLst/>
            <a:ahLst/>
            <a:cxnLst/>
            <a:rect r="r" b="b" t="t" l="l"/>
            <a:pathLst>
              <a:path h="1314877" w="1255708">
                <a:moveTo>
                  <a:pt x="0" y="0"/>
                </a:moveTo>
                <a:lnTo>
                  <a:pt x="1255707" y="0"/>
                </a:lnTo>
                <a:lnTo>
                  <a:pt x="1255707" y="1314877"/>
                </a:lnTo>
                <a:lnTo>
                  <a:pt x="0" y="131487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7200612">
            <a:off x="15068678" y="842017"/>
            <a:ext cx="4060734" cy="2944032"/>
          </a:xfrm>
          <a:custGeom>
            <a:avLst/>
            <a:gdLst/>
            <a:ahLst/>
            <a:cxnLst/>
            <a:rect r="r" b="b" t="t" l="l"/>
            <a:pathLst>
              <a:path h="2944032" w="4060734">
                <a:moveTo>
                  <a:pt x="0" y="0"/>
                </a:moveTo>
                <a:lnTo>
                  <a:pt x="4060734" y="0"/>
                </a:lnTo>
                <a:lnTo>
                  <a:pt x="4060734" y="2944032"/>
                </a:lnTo>
                <a:lnTo>
                  <a:pt x="0" y="29440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479124" y="1844045"/>
            <a:ext cx="11329752" cy="865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41"/>
              </a:lnSpc>
            </a:pPr>
            <a:r>
              <a:rPr lang="en-US" sz="582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Lilita One"/>
                <a:ea typeface="Lilita One"/>
                <a:cs typeface="Lilita One"/>
                <a:sym typeface="Lilita One"/>
              </a:rPr>
              <a:t>ACTIVITY 2: ORGANIC CHEMISTRY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386441" y="3825243"/>
            <a:ext cx="9515118" cy="1152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42"/>
              </a:lnSpc>
              <a:spcBef>
                <a:spcPct val="0"/>
              </a:spcBef>
            </a:pPr>
            <a:r>
              <a:rPr lang="en-US" sz="674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Noot"/>
                <a:ea typeface="Noot"/>
                <a:cs typeface="Noot"/>
                <a:sym typeface="Noot"/>
              </a:rPr>
              <a:t>JAMES VINCENT JADAN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BBC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682" y="357555"/>
            <a:ext cx="17134637" cy="9571889"/>
            <a:chOff x="0" y="0"/>
            <a:chExt cx="22846182" cy="1276251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6935"/>
              <a:ext cx="22846182" cy="12665584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846182" cy="2524792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62396"/>
              <a:ext cx="22846182" cy="1262396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696037" y="10165161"/>
              <a:ext cx="2265173" cy="756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8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562" y="2261336"/>
            <a:ext cx="0" cy="7668108"/>
          </a:xfrm>
          <a:prstGeom prst="line">
            <a:avLst/>
          </a:prstGeom>
          <a:ln cap="flat" w="47625">
            <a:solidFill>
              <a:srgbClr val="ABBCD5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576682" y="5686030"/>
            <a:ext cx="17134637" cy="0"/>
          </a:xfrm>
          <a:prstGeom prst="line">
            <a:avLst/>
          </a:prstGeom>
          <a:ln cap="flat" w="47625">
            <a:solidFill>
              <a:srgbClr val="ABBCD5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1720793" y="7194140"/>
            <a:ext cx="3246665" cy="1803703"/>
          </a:xfrm>
          <a:custGeom>
            <a:avLst/>
            <a:gdLst/>
            <a:ahLst/>
            <a:cxnLst/>
            <a:rect r="r" b="b" t="t" l="l"/>
            <a:pathLst>
              <a:path h="1803703" w="3246665">
                <a:moveTo>
                  <a:pt x="0" y="0"/>
                </a:moveTo>
                <a:lnTo>
                  <a:pt x="3246665" y="0"/>
                </a:lnTo>
                <a:lnTo>
                  <a:pt x="3246665" y="1803702"/>
                </a:lnTo>
                <a:lnTo>
                  <a:pt x="0" y="18037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428191" y="3155335"/>
            <a:ext cx="3831869" cy="2232328"/>
          </a:xfrm>
          <a:custGeom>
            <a:avLst/>
            <a:gdLst/>
            <a:ahLst/>
            <a:cxnLst/>
            <a:rect r="r" b="b" t="t" l="l"/>
            <a:pathLst>
              <a:path h="2232328" w="3831869">
                <a:moveTo>
                  <a:pt x="0" y="0"/>
                </a:moveTo>
                <a:lnTo>
                  <a:pt x="3831869" y="0"/>
                </a:lnTo>
                <a:lnTo>
                  <a:pt x="3831869" y="2232327"/>
                </a:lnTo>
                <a:lnTo>
                  <a:pt x="0" y="22323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67216" y="2490694"/>
            <a:ext cx="5017821" cy="54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7499" indent="-333749" lvl="1">
              <a:lnSpc>
                <a:spcPts val="4328"/>
              </a:lnSpc>
              <a:buAutoNum type="arabicPeriod" startAt="1"/>
            </a:pPr>
            <a:r>
              <a:rPr lang="en-US" b="true" sz="309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66085" y="2490694"/>
            <a:ext cx="4356081" cy="54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7499" indent="-333749" lvl="1">
              <a:lnSpc>
                <a:spcPts val="4328"/>
              </a:lnSpc>
              <a:buAutoNum type="arabicPeriod" startAt="1"/>
            </a:pPr>
            <a:r>
              <a:rPr lang="en-US" b="true" sz="309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3685" y="6081922"/>
            <a:ext cx="7344883" cy="540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7131" indent="-333566" lvl="1">
              <a:lnSpc>
                <a:spcPts val="4326"/>
              </a:lnSpc>
              <a:buAutoNum type="arabicPeriod" startAt="1"/>
            </a:pPr>
            <a:r>
              <a:rPr lang="en-US" b="true" sz="309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0671" y="6081922"/>
            <a:ext cx="7026910" cy="540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6467" indent="-333234" lvl="1">
              <a:lnSpc>
                <a:spcPts val="4321"/>
              </a:lnSpc>
              <a:buAutoNum type="arabicPeriod" startAt="1"/>
            </a:pPr>
            <a:r>
              <a:rPr lang="en-US" b="true" sz="308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81478" y="929990"/>
            <a:ext cx="6325043" cy="1068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4"/>
              </a:lnSpc>
            </a:pPr>
            <a:r>
              <a:rPr lang="en-US" b="true" sz="4668" spc="-41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CARD 01 - Propane</a:t>
            </a:r>
          </a:p>
          <a:p>
            <a:pPr algn="ctr">
              <a:lnSpc>
                <a:spcPts val="4014"/>
              </a:lnSpc>
            </a:pPr>
            <a:r>
              <a:rPr lang="en-US" b="true" sz="4668" spc="-41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Molecular Formula: C₃H₈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96144" y="2879110"/>
            <a:ext cx="3959964" cy="2439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78"/>
              </a:lnSpc>
            </a:pPr>
            <a:r>
              <a:rPr lang="en-US" b="true" sz="141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C₃H₈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69782" y="7238625"/>
            <a:ext cx="6741098" cy="1626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36"/>
              </a:lnSpc>
            </a:pPr>
            <a:r>
              <a:rPr lang="en-US" b="true" sz="945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CH₃CH₂CH₃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BBC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9471" y="442908"/>
            <a:ext cx="16829058" cy="9401184"/>
            <a:chOff x="0" y="0"/>
            <a:chExt cx="22438744" cy="1253491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5206"/>
              <a:ext cx="22438744" cy="12439706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438744" cy="2479765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39883"/>
              <a:ext cx="22438744" cy="1239883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380447" y="9974350"/>
              <a:ext cx="2208159" cy="752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7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748" y="2312737"/>
            <a:ext cx="0" cy="7531355"/>
          </a:xfrm>
          <a:prstGeom prst="line">
            <a:avLst/>
          </a:prstGeom>
          <a:ln cap="flat" w="47625">
            <a:solidFill>
              <a:srgbClr val="ABBCD5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729471" y="5676355"/>
            <a:ext cx="16829058" cy="0"/>
          </a:xfrm>
          <a:prstGeom prst="line">
            <a:avLst/>
          </a:prstGeom>
          <a:ln cap="flat" w="47625">
            <a:solidFill>
              <a:srgbClr val="ABBCD5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566103" y="7263655"/>
            <a:ext cx="5991856" cy="1647760"/>
          </a:xfrm>
          <a:custGeom>
            <a:avLst/>
            <a:gdLst/>
            <a:ahLst/>
            <a:cxnLst/>
            <a:rect r="r" b="b" t="t" l="l"/>
            <a:pathLst>
              <a:path h="1647760" w="5991856">
                <a:moveTo>
                  <a:pt x="0" y="0"/>
                </a:moveTo>
                <a:lnTo>
                  <a:pt x="5991856" y="0"/>
                </a:lnTo>
                <a:lnTo>
                  <a:pt x="5991856" y="1647760"/>
                </a:lnTo>
                <a:lnTo>
                  <a:pt x="0" y="1647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088304" y="3234081"/>
            <a:ext cx="4320114" cy="2313686"/>
          </a:xfrm>
          <a:custGeom>
            <a:avLst/>
            <a:gdLst/>
            <a:ahLst/>
            <a:cxnLst/>
            <a:rect r="r" b="b" t="t" l="l"/>
            <a:pathLst>
              <a:path h="2313686" w="4320114">
                <a:moveTo>
                  <a:pt x="0" y="0"/>
                </a:moveTo>
                <a:lnTo>
                  <a:pt x="4320114" y="0"/>
                </a:lnTo>
                <a:lnTo>
                  <a:pt x="4320114" y="2313686"/>
                </a:lnTo>
                <a:lnTo>
                  <a:pt x="0" y="23136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872" r="0" b="-287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291640" y="2536645"/>
            <a:ext cx="4928333" cy="540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7131" indent="-333566" lvl="1">
              <a:lnSpc>
                <a:spcPts val="4326"/>
              </a:lnSpc>
              <a:buAutoNum type="arabicPeriod" startAt="1"/>
            </a:pPr>
            <a:r>
              <a:rPr lang="en-US" b="true" sz="309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30023" y="2536645"/>
            <a:ext cx="4278395" cy="540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7131" indent="-333566" lvl="1">
              <a:lnSpc>
                <a:spcPts val="4326"/>
              </a:lnSpc>
              <a:buAutoNum type="arabicPeriod" startAt="1"/>
            </a:pPr>
            <a:r>
              <a:rPr lang="en-US" b="true" sz="309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7169" y="6093846"/>
            <a:ext cx="7213894" cy="540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7131" indent="-333566" lvl="1">
              <a:lnSpc>
                <a:spcPts val="4326"/>
              </a:lnSpc>
              <a:buAutoNum type="arabicPeriod" startAt="1"/>
            </a:pPr>
            <a:r>
              <a:rPr lang="en-US" b="true" sz="309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72120" y="6631417"/>
            <a:ext cx="6901592" cy="523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1886" indent="-325943" lvl="1">
              <a:lnSpc>
                <a:spcPts val="4227"/>
              </a:lnSpc>
              <a:buAutoNum type="arabicPeriod" startAt="1"/>
            </a:pPr>
            <a:r>
              <a:rPr lang="en-US" b="true" sz="301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37879" y="998157"/>
            <a:ext cx="6212243" cy="100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1"/>
              </a:lnSpc>
            </a:pPr>
            <a:r>
              <a:rPr lang="en-US" b="true" sz="4385" spc="-38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CARD 02 - Ethanol</a:t>
            </a:r>
          </a:p>
          <a:p>
            <a:pPr algn="ctr">
              <a:lnSpc>
                <a:spcPts val="3771"/>
              </a:lnSpc>
            </a:pPr>
            <a:r>
              <a:rPr lang="en-US" b="true" sz="4385" spc="-38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Molecular Formula: C₂H₆O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09008" y="3005481"/>
            <a:ext cx="4288154" cy="1958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58"/>
              </a:lnSpc>
            </a:pPr>
            <a:r>
              <a:rPr lang="en-US" b="true" sz="113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C₂H₆O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51763" y="6913863"/>
            <a:ext cx="6135422" cy="160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00"/>
              </a:lnSpc>
            </a:pPr>
            <a:r>
              <a:rPr lang="en-US" b="true" sz="928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CH₃CH₂OH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BBC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4558" y="339610"/>
            <a:ext cx="17198884" cy="9607779"/>
            <a:chOff x="0" y="0"/>
            <a:chExt cx="22931845" cy="1281037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7299"/>
              <a:ext cx="22931845" cy="12713074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931845" cy="2534259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67129"/>
              <a:ext cx="22931845" cy="1267129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762389" y="10203275"/>
              <a:ext cx="2256685" cy="7596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85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523" y="2250530"/>
            <a:ext cx="0" cy="7696860"/>
          </a:xfrm>
          <a:prstGeom prst="line">
            <a:avLst/>
          </a:prstGeom>
          <a:ln cap="flat" w="47625">
            <a:solidFill>
              <a:srgbClr val="ABBCD5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544558" y="5688064"/>
            <a:ext cx="17198884" cy="0"/>
          </a:xfrm>
          <a:prstGeom prst="line">
            <a:avLst/>
          </a:prstGeom>
          <a:ln cap="flat" w="47625">
            <a:solidFill>
              <a:srgbClr val="ABBCD5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2327494" y="6938890"/>
            <a:ext cx="2382955" cy="2319410"/>
          </a:xfrm>
          <a:custGeom>
            <a:avLst/>
            <a:gdLst/>
            <a:ahLst/>
            <a:cxnLst/>
            <a:rect r="r" b="b" t="t" l="l"/>
            <a:pathLst>
              <a:path h="2319410" w="2382955">
                <a:moveTo>
                  <a:pt x="0" y="0"/>
                </a:moveTo>
                <a:lnTo>
                  <a:pt x="2382955" y="0"/>
                </a:lnTo>
                <a:lnTo>
                  <a:pt x="2382955" y="2319410"/>
                </a:lnTo>
                <a:lnTo>
                  <a:pt x="0" y="23194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135631" y="3072955"/>
            <a:ext cx="4663615" cy="2361380"/>
          </a:xfrm>
          <a:custGeom>
            <a:avLst/>
            <a:gdLst/>
            <a:ahLst/>
            <a:cxnLst/>
            <a:rect r="r" b="b" t="t" l="l"/>
            <a:pathLst>
              <a:path h="2361380" w="4663615">
                <a:moveTo>
                  <a:pt x="0" y="0"/>
                </a:moveTo>
                <a:lnTo>
                  <a:pt x="4663615" y="0"/>
                </a:lnTo>
                <a:lnTo>
                  <a:pt x="4663615" y="2361380"/>
                </a:lnTo>
                <a:lnTo>
                  <a:pt x="0" y="23613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4288" r="0" b="-14288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41056" y="2481033"/>
            <a:ext cx="5036635" cy="53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8978" indent="-324489" lvl="1">
              <a:lnSpc>
                <a:spcPts val="4208"/>
              </a:lnSpc>
              <a:buAutoNum type="arabicPeriod" startAt="1"/>
            </a:pPr>
            <a:r>
              <a:rPr lang="en-US" b="true" sz="300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59129" y="2295475"/>
            <a:ext cx="4372414" cy="53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8978" indent="-324489" lvl="1">
              <a:lnSpc>
                <a:spcPts val="4208"/>
              </a:lnSpc>
              <a:buAutoNum type="arabicPeriod" startAt="1"/>
            </a:pPr>
            <a:r>
              <a:rPr lang="en-US" b="true" sz="300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2537" y="6085727"/>
            <a:ext cx="7372423" cy="5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943" indent="-323971" lvl="1">
              <a:lnSpc>
                <a:spcPts val="4201"/>
              </a:lnSpc>
              <a:buAutoNum type="arabicPeriod" startAt="1"/>
            </a:pPr>
            <a:r>
              <a:rPr lang="en-US" b="true" sz="300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3245" y="6085727"/>
            <a:ext cx="7053257" cy="53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7943" indent="-323971" lvl="1">
              <a:lnSpc>
                <a:spcPts val="4201"/>
              </a:lnSpc>
              <a:buAutoNum type="arabicPeriod" startAt="1"/>
            </a:pPr>
            <a:r>
              <a:rPr lang="en-US" b="true" sz="300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75228" y="913655"/>
            <a:ext cx="8937544" cy="106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9"/>
              </a:lnSpc>
            </a:pPr>
            <a:r>
              <a:rPr lang="en-US" b="true" sz="4685" spc="-41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CARD 03 - Acetone (propan-2-one) </a:t>
            </a:r>
          </a:p>
          <a:p>
            <a:pPr algn="ctr">
              <a:lnSpc>
                <a:spcPts val="4029"/>
              </a:lnSpc>
            </a:pPr>
            <a:r>
              <a:rPr lang="en-US" b="true" sz="4685" spc="-41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Molecular Formula: C₃H₆O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07288" y="2948643"/>
            <a:ext cx="4470404" cy="2016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09"/>
              </a:lnSpc>
            </a:pPr>
            <a:r>
              <a:rPr lang="en-US" b="true" sz="1172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C₃H₆O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91513" y="6966479"/>
            <a:ext cx="6270250" cy="1625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85"/>
              </a:lnSpc>
            </a:pPr>
            <a:r>
              <a:rPr lang="en-US" b="true" sz="948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CH₃COCH₃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BBC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2658" y="377653"/>
            <a:ext cx="17062684" cy="9531695"/>
            <a:chOff x="0" y="0"/>
            <a:chExt cx="22750246" cy="1270892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6528"/>
              <a:ext cx="22750246" cy="12612398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750246" cy="2514190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57095"/>
              <a:ext cx="22750246" cy="1257095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621727" y="10122475"/>
              <a:ext cx="2238814" cy="753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49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606" y="2273439"/>
            <a:ext cx="0" cy="7635908"/>
          </a:xfrm>
          <a:prstGeom prst="line">
            <a:avLst/>
          </a:prstGeom>
          <a:ln cap="flat" w="47625">
            <a:solidFill>
              <a:srgbClr val="ABBCD5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612658" y="5683752"/>
            <a:ext cx="17062684" cy="0"/>
          </a:xfrm>
          <a:prstGeom prst="line">
            <a:avLst/>
          </a:prstGeom>
          <a:ln cap="flat" w="47625">
            <a:solidFill>
              <a:srgbClr val="ABBCD5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2235185" y="6865770"/>
            <a:ext cx="2624228" cy="2710741"/>
          </a:xfrm>
          <a:custGeom>
            <a:avLst/>
            <a:gdLst/>
            <a:ahLst/>
            <a:cxnLst/>
            <a:rect r="r" b="b" t="t" l="l"/>
            <a:pathLst>
              <a:path h="2710741" w="2624228">
                <a:moveTo>
                  <a:pt x="0" y="0"/>
                </a:moveTo>
                <a:lnTo>
                  <a:pt x="2624228" y="0"/>
                </a:lnTo>
                <a:lnTo>
                  <a:pt x="2624228" y="2710741"/>
                </a:lnTo>
                <a:lnTo>
                  <a:pt x="0" y="27107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204200" y="2872587"/>
            <a:ext cx="4373759" cy="2539703"/>
          </a:xfrm>
          <a:custGeom>
            <a:avLst/>
            <a:gdLst/>
            <a:ahLst/>
            <a:cxnLst/>
            <a:rect r="r" b="b" t="t" l="l"/>
            <a:pathLst>
              <a:path h="2539703" w="4373759">
                <a:moveTo>
                  <a:pt x="0" y="0"/>
                </a:moveTo>
                <a:lnTo>
                  <a:pt x="4373759" y="0"/>
                </a:lnTo>
                <a:lnTo>
                  <a:pt x="4373759" y="2539702"/>
                </a:lnTo>
                <a:lnTo>
                  <a:pt x="0" y="2539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456" r="0" b="-6777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96513" y="2501514"/>
            <a:ext cx="4996750" cy="54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4061" indent="-332030" lvl="1">
              <a:lnSpc>
                <a:spcPts val="4306"/>
              </a:lnSpc>
              <a:buAutoNum type="arabicPeriod" startAt="1"/>
            </a:pPr>
            <a:r>
              <a:rPr lang="en-US" b="true" sz="307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57594" y="2331586"/>
            <a:ext cx="4337788" cy="54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4061" indent="-332030" lvl="1">
              <a:lnSpc>
                <a:spcPts val="4306"/>
              </a:lnSpc>
              <a:buAutoNum type="arabicPeriod" startAt="1"/>
            </a:pPr>
            <a:r>
              <a:rPr lang="en-US" b="true" sz="307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7868" y="6087187"/>
            <a:ext cx="7314040" cy="531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3034" indent="-331517" lvl="1">
              <a:lnSpc>
                <a:spcPts val="4299"/>
              </a:lnSpc>
              <a:buAutoNum type="arabicPeriod" startAt="1"/>
            </a:pPr>
            <a:r>
              <a:rPr lang="en-US" b="true" sz="307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27787" y="6087187"/>
            <a:ext cx="6997402" cy="531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3034" indent="-331517" lvl="1">
              <a:lnSpc>
                <a:spcPts val="4299"/>
              </a:lnSpc>
              <a:buAutoNum type="arabicPeriod" startAt="1"/>
            </a:pPr>
            <a:r>
              <a:rPr lang="en-US" b="true" sz="307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76132" y="957808"/>
            <a:ext cx="8514947" cy="1057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7"/>
              </a:lnSpc>
            </a:pPr>
            <a:r>
              <a:rPr lang="en-US" b="true" sz="4648" spc="-40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CARD 04 - Acetic Acid (ethanoic acid) </a:t>
            </a:r>
          </a:p>
          <a:p>
            <a:pPr algn="ctr">
              <a:lnSpc>
                <a:spcPts val="3997"/>
              </a:lnSpc>
            </a:pPr>
            <a:r>
              <a:rPr lang="en-US" b="true" sz="4648" spc="-40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Molecular Formula: C₂H₄O₂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65160" y="2887458"/>
            <a:ext cx="5821943" cy="2422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5"/>
              </a:lnSpc>
            </a:pPr>
            <a:r>
              <a:rPr lang="en-US" b="true" sz="1413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C₂H₄O₂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50530" y="6941084"/>
            <a:ext cx="6220596" cy="161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80"/>
              </a:lnSpc>
            </a:pPr>
            <a:r>
              <a:rPr lang="en-US" b="true" sz="941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CH₃COOH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BBC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4011" y="328132"/>
            <a:ext cx="17239977" cy="9630735"/>
            <a:chOff x="0" y="0"/>
            <a:chExt cx="22986636" cy="1284098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7531"/>
              <a:ext cx="22986636" cy="12743449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986636" cy="2540314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70157"/>
              <a:ext cx="22986636" cy="1270157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804829" y="10227654"/>
              <a:ext cx="2262077" cy="7614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96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498" y="2243617"/>
            <a:ext cx="0" cy="7715250"/>
          </a:xfrm>
          <a:prstGeom prst="line">
            <a:avLst/>
          </a:prstGeom>
          <a:ln cap="flat" w="47625">
            <a:solidFill>
              <a:srgbClr val="ABBCD5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524011" y="5689365"/>
            <a:ext cx="17239977" cy="0"/>
          </a:xfrm>
          <a:prstGeom prst="line">
            <a:avLst/>
          </a:prstGeom>
          <a:ln cap="flat" w="47625">
            <a:solidFill>
              <a:srgbClr val="ABBCD5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1179292" y="7068976"/>
            <a:ext cx="4688017" cy="2571898"/>
          </a:xfrm>
          <a:custGeom>
            <a:avLst/>
            <a:gdLst/>
            <a:ahLst/>
            <a:cxnLst/>
            <a:rect r="r" b="b" t="t" l="l"/>
            <a:pathLst>
              <a:path h="2571898" w="4688017">
                <a:moveTo>
                  <a:pt x="0" y="0"/>
                </a:moveTo>
                <a:lnTo>
                  <a:pt x="4688016" y="0"/>
                </a:lnTo>
                <a:lnTo>
                  <a:pt x="4688016" y="2571898"/>
                </a:lnTo>
                <a:lnTo>
                  <a:pt x="0" y="25718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457519" y="3007872"/>
            <a:ext cx="5545017" cy="2545115"/>
          </a:xfrm>
          <a:custGeom>
            <a:avLst/>
            <a:gdLst/>
            <a:ahLst/>
            <a:cxnLst/>
            <a:rect r="r" b="b" t="t" l="l"/>
            <a:pathLst>
              <a:path h="2545115" w="5545017">
                <a:moveTo>
                  <a:pt x="0" y="0"/>
                </a:moveTo>
                <a:lnTo>
                  <a:pt x="5545017" y="0"/>
                </a:lnTo>
                <a:lnTo>
                  <a:pt x="5545017" y="2545115"/>
                </a:lnTo>
                <a:lnTo>
                  <a:pt x="0" y="25451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452" r="0" b="-845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24324" y="2474854"/>
            <a:ext cx="5048669" cy="533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0942" indent="-325471" lvl="1">
              <a:lnSpc>
                <a:spcPts val="4221"/>
              </a:lnSpc>
              <a:buAutoNum type="arabicPeriod" startAt="1"/>
            </a:pPr>
            <a:r>
              <a:rPr lang="en-US" b="true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78516" y="2474854"/>
            <a:ext cx="4382861" cy="533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0942" indent="-325471" lvl="1">
              <a:lnSpc>
                <a:spcPts val="4221"/>
              </a:lnSpc>
              <a:buAutoNum type="arabicPeriod" startAt="1"/>
            </a:pPr>
            <a:r>
              <a:rPr lang="en-US" b="true" sz="3015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3640" y="5970353"/>
            <a:ext cx="7390038" cy="533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9904" indent="-324952" lvl="1">
              <a:lnSpc>
                <a:spcPts val="4214"/>
              </a:lnSpc>
              <a:buAutoNum type="arabicPeriod" startAt="1"/>
            </a:pPr>
            <a:r>
              <a:rPr lang="en-US" b="true" sz="301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4892" y="6088160"/>
            <a:ext cx="7070110" cy="533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9904" indent="-324952" lvl="1">
              <a:lnSpc>
                <a:spcPts val="4214"/>
              </a:lnSpc>
              <a:buAutoNum type="arabicPeriod" startAt="1"/>
            </a:pPr>
            <a:r>
              <a:rPr lang="en-US" b="true" sz="301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09075" y="903208"/>
            <a:ext cx="9669850" cy="1069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9"/>
              </a:lnSpc>
            </a:pPr>
            <a:r>
              <a:rPr lang="en-US" b="true" sz="4697" spc="-41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CARD 05 -  Ethyl acetate (ethyl ethanoate)</a:t>
            </a:r>
          </a:p>
          <a:p>
            <a:pPr algn="ctr">
              <a:lnSpc>
                <a:spcPts val="4039"/>
              </a:lnSpc>
            </a:pPr>
            <a:r>
              <a:rPr lang="en-US" b="true" sz="4697" spc="-41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Molecular Formula: C₄H₈O₂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23073" y="3070228"/>
            <a:ext cx="5271579" cy="224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1"/>
              </a:lnSpc>
            </a:pPr>
            <a:r>
              <a:rPr lang="en-US" b="true" sz="1300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C₄H₈O₂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23972" y="7155425"/>
            <a:ext cx="7469782" cy="1369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20"/>
              </a:lnSpc>
            </a:pPr>
            <a:r>
              <a:rPr lang="en-US" b="true" sz="794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CH₃COOCH₂CH₃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BBC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6358" y="335030"/>
            <a:ext cx="17215284" cy="9616941"/>
            <a:chOff x="0" y="0"/>
            <a:chExt cx="22953712" cy="1282258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7391"/>
              <a:ext cx="22953712" cy="12725197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953712" cy="2536676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68338"/>
              <a:ext cx="22953712" cy="1268338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779327" y="10213005"/>
              <a:ext cx="2258837" cy="7603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90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513" y="2247771"/>
            <a:ext cx="0" cy="7704200"/>
          </a:xfrm>
          <a:prstGeom prst="line">
            <a:avLst/>
          </a:prstGeom>
          <a:ln cap="flat" w="47625">
            <a:solidFill>
              <a:srgbClr val="ABBCD5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536358" y="5688584"/>
            <a:ext cx="17215284" cy="0"/>
          </a:xfrm>
          <a:prstGeom prst="line">
            <a:avLst/>
          </a:prstGeom>
          <a:ln cap="flat" w="47625">
            <a:solidFill>
              <a:srgbClr val="ABBCD5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2415928" y="6829843"/>
            <a:ext cx="2428495" cy="2779988"/>
          </a:xfrm>
          <a:custGeom>
            <a:avLst/>
            <a:gdLst/>
            <a:ahLst/>
            <a:cxnLst/>
            <a:rect r="r" b="b" t="t" l="l"/>
            <a:pathLst>
              <a:path h="2779988" w="2428495">
                <a:moveTo>
                  <a:pt x="0" y="0"/>
                </a:moveTo>
                <a:lnTo>
                  <a:pt x="2428495" y="0"/>
                </a:lnTo>
                <a:lnTo>
                  <a:pt x="2428495" y="2779988"/>
                </a:lnTo>
                <a:lnTo>
                  <a:pt x="0" y="27799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321407" y="2902668"/>
            <a:ext cx="2301683" cy="2785916"/>
          </a:xfrm>
          <a:custGeom>
            <a:avLst/>
            <a:gdLst/>
            <a:ahLst/>
            <a:cxnLst/>
            <a:rect r="r" b="b" t="t" l="l"/>
            <a:pathLst>
              <a:path h="2785916" w="2301683">
                <a:moveTo>
                  <a:pt x="0" y="0"/>
                </a:moveTo>
                <a:lnTo>
                  <a:pt x="2301683" y="0"/>
                </a:lnTo>
                <a:lnTo>
                  <a:pt x="2301683" y="2785916"/>
                </a:lnTo>
                <a:lnTo>
                  <a:pt x="0" y="2785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36" r="-4024" b="-4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34378" y="2478567"/>
            <a:ext cx="5041438" cy="533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9761" indent="-324881" lvl="1">
              <a:lnSpc>
                <a:spcPts val="4213"/>
              </a:lnSpc>
              <a:buAutoNum type="arabicPeriod" startAt="1"/>
            </a:pPr>
            <a:r>
              <a:rPr lang="en-US" b="true" sz="300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89379" y="2369510"/>
            <a:ext cx="4376583" cy="5331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9761" indent="-324881" lvl="1">
              <a:lnSpc>
                <a:spcPts val="4213"/>
              </a:lnSpc>
              <a:buAutoNum type="arabicPeriod" startAt="1"/>
            </a:pPr>
            <a:r>
              <a:rPr lang="en-US" b="true" sz="300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371" y="5979096"/>
            <a:ext cx="7379453" cy="53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8725" indent="-324362" lvl="1">
              <a:lnSpc>
                <a:spcPts val="4206"/>
              </a:lnSpc>
              <a:buAutoNum type="arabicPeriod" startAt="1"/>
            </a:pPr>
            <a:r>
              <a:rPr lang="en-US" b="true" sz="300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3902" y="6086698"/>
            <a:ext cx="7059983" cy="53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48725" indent="-324362" lvl="1">
              <a:lnSpc>
                <a:spcPts val="4206"/>
              </a:lnSpc>
              <a:buAutoNum type="arabicPeriod" startAt="1"/>
            </a:pPr>
            <a:r>
              <a:rPr lang="en-US" b="true" sz="300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66593" y="909486"/>
            <a:ext cx="6354813" cy="1069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33"/>
              </a:lnSpc>
            </a:pPr>
            <a:r>
              <a:rPr lang="en-US" b="true" sz="4690" spc="-41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CARD 06 - Cyclohexane</a:t>
            </a:r>
          </a:p>
          <a:p>
            <a:pPr algn="ctr">
              <a:lnSpc>
                <a:spcPts val="4033"/>
              </a:lnSpc>
            </a:pPr>
            <a:r>
              <a:rPr lang="en-US" b="true" sz="4690" spc="-41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Molecular Formula: C₆H₁₂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62835" y="2869752"/>
            <a:ext cx="4784525" cy="2447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72"/>
              </a:lnSpc>
            </a:pPr>
            <a:r>
              <a:rPr lang="en-US" b="true" sz="1426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C₆H₁₂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80173" y="6749047"/>
            <a:ext cx="4940495" cy="2322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68"/>
              </a:lnSpc>
            </a:pPr>
            <a:r>
              <a:rPr lang="en-US" b="true" sz="135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(CH₂)₆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BBC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0878" y="309623"/>
            <a:ext cx="17306243" cy="9667754"/>
            <a:chOff x="0" y="0"/>
            <a:chExt cx="23074991" cy="1289033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7906"/>
              <a:ext cx="23074991" cy="12792432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3074991" cy="2550078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75039"/>
              <a:ext cx="23074991" cy="1275039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873267" y="10257442"/>
              <a:ext cx="2270771" cy="7738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14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457" y="2232471"/>
            <a:ext cx="0" cy="7744906"/>
          </a:xfrm>
          <a:prstGeom prst="line">
            <a:avLst/>
          </a:prstGeom>
          <a:ln cap="flat" w="57150">
            <a:solidFill>
              <a:srgbClr val="ABBCD5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490878" y="5691464"/>
            <a:ext cx="17306243" cy="0"/>
          </a:xfrm>
          <a:prstGeom prst="line">
            <a:avLst/>
          </a:prstGeom>
          <a:ln cap="flat" w="57150">
            <a:solidFill>
              <a:srgbClr val="ABBCD5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2508984" y="6745862"/>
            <a:ext cx="1754413" cy="3070222"/>
          </a:xfrm>
          <a:custGeom>
            <a:avLst/>
            <a:gdLst/>
            <a:ahLst/>
            <a:cxnLst/>
            <a:rect r="r" b="b" t="t" l="l"/>
            <a:pathLst>
              <a:path h="3070222" w="1754413">
                <a:moveTo>
                  <a:pt x="0" y="0"/>
                </a:moveTo>
                <a:lnTo>
                  <a:pt x="1754413" y="0"/>
                </a:lnTo>
                <a:lnTo>
                  <a:pt x="1754413" y="3070222"/>
                </a:lnTo>
                <a:lnTo>
                  <a:pt x="0" y="30702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508984" y="2810819"/>
            <a:ext cx="2328552" cy="2769752"/>
          </a:xfrm>
          <a:custGeom>
            <a:avLst/>
            <a:gdLst/>
            <a:ahLst/>
            <a:cxnLst/>
            <a:rect r="r" b="b" t="t" l="l"/>
            <a:pathLst>
              <a:path h="2769752" w="2328552">
                <a:moveTo>
                  <a:pt x="0" y="0"/>
                </a:moveTo>
                <a:lnTo>
                  <a:pt x="2328552" y="0"/>
                </a:lnTo>
                <a:lnTo>
                  <a:pt x="2328552" y="2769752"/>
                </a:lnTo>
                <a:lnTo>
                  <a:pt x="0" y="27697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871" t="-7522" r="-5082" b="-4688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097342" y="2474414"/>
            <a:ext cx="5068075" cy="523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4107" indent="-327054" lvl="1">
              <a:lnSpc>
                <a:spcPts val="4241"/>
              </a:lnSpc>
              <a:buAutoNum type="arabicPeriod" startAt="1"/>
            </a:pPr>
            <a:r>
              <a:rPr lang="en-US" b="true" sz="302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86337" y="2287698"/>
            <a:ext cx="4399708" cy="523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4107" indent="-327054" lvl="1">
              <a:lnSpc>
                <a:spcPts val="4241"/>
              </a:lnSpc>
              <a:buAutoNum type="arabicPeriod" startAt="1"/>
            </a:pPr>
            <a:r>
              <a:rPr lang="en-US" b="true" sz="302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2158" y="6101609"/>
            <a:ext cx="7418443" cy="523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3066" indent="-326533" lvl="1">
              <a:lnSpc>
                <a:spcPts val="4234"/>
              </a:lnSpc>
              <a:buAutoNum type="arabicPeriod" startAt="1"/>
            </a:pPr>
            <a:r>
              <a:rPr lang="en-US" b="true" sz="302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7548" y="6101609"/>
            <a:ext cx="7097286" cy="523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3066" indent="-326533" lvl="1">
              <a:lnSpc>
                <a:spcPts val="4234"/>
              </a:lnSpc>
              <a:buAutoNum type="arabicPeriod" startAt="1"/>
            </a:pPr>
            <a:r>
              <a:rPr lang="en-US" b="true" sz="302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49805" y="886360"/>
            <a:ext cx="6388390" cy="1089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4"/>
              </a:lnSpc>
            </a:pPr>
            <a:r>
              <a:rPr lang="en-US" b="true" sz="4715" spc="-41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CARD 07 - Cyclohexanone </a:t>
            </a:r>
          </a:p>
          <a:p>
            <a:pPr algn="ctr">
              <a:lnSpc>
                <a:spcPts val="4054"/>
              </a:lnSpc>
            </a:pPr>
            <a:r>
              <a:rPr lang="en-US" b="true" sz="4715" spc="-414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Molecular Formula: C₆H₁₀O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46371" y="2868723"/>
            <a:ext cx="5995068" cy="244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77"/>
              </a:lnSpc>
            </a:pPr>
            <a:r>
              <a:rPr lang="en-US" b="true" sz="1434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C₆H₁₀O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97342" y="7008695"/>
            <a:ext cx="5214147" cy="164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68"/>
              </a:lnSpc>
            </a:pPr>
            <a:r>
              <a:rPr lang="en-US" b="true" sz="954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(CH₂)₅CO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BBC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3061" y="405810"/>
            <a:ext cx="16961877" cy="9475381"/>
            <a:chOff x="0" y="0"/>
            <a:chExt cx="22615836" cy="1263384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5958"/>
              <a:ext cx="22615836" cy="12537883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615836" cy="2499336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49668"/>
              <a:ext cx="22615836" cy="1249668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517618" y="10053146"/>
              <a:ext cx="2225587" cy="7586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22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667" y="2290396"/>
            <a:ext cx="0" cy="7590795"/>
          </a:xfrm>
          <a:prstGeom prst="line">
            <a:avLst/>
          </a:prstGeom>
          <a:ln cap="flat" w="47625">
            <a:solidFill>
              <a:srgbClr val="ABBCD5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663061" y="5680560"/>
            <a:ext cx="16961877" cy="0"/>
          </a:xfrm>
          <a:prstGeom prst="line">
            <a:avLst/>
          </a:prstGeom>
          <a:ln cap="flat" w="47625">
            <a:solidFill>
              <a:srgbClr val="ABBCD5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120415">
            <a:off x="10875088" y="6497556"/>
            <a:ext cx="5103453" cy="2960003"/>
          </a:xfrm>
          <a:custGeom>
            <a:avLst/>
            <a:gdLst/>
            <a:ahLst/>
            <a:cxnLst/>
            <a:rect r="r" b="b" t="t" l="l"/>
            <a:pathLst>
              <a:path h="2960003" w="5103453">
                <a:moveTo>
                  <a:pt x="0" y="0"/>
                </a:moveTo>
                <a:lnTo>
                  <a:pt x="5103453" y="0"/>
                </a:lnTo>
                <a:lnTo>
                  <a:pt x="5103453" y="2960003"/>
                </a:lnTo>
                <a:lnTo>
                  <a:pt x="0" y="29600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1145697" y="2853368"/>
            <a:ext cx="4312161" cy="2761555"/>
          </a:xfrm>
          <a:custGeom>
            <a:avLst/>
            <a:gdLst/>
            <a:ahLst/>
            <a:cxnLst/>
            <a:rect r="r" b="b" t="t" l="l"/>
            <a:pathLst>
              <a:path h="2761555" w="4312161">
                <a:moveTo>
                  <a:pt x="0" y="0"/>
                </a:moveTo>
                <a:lnTo>
                  <a:pt x="4312161" y="0"/>
                </a:lnTo>
                <a:lnTo>
                  <a:pt x="4312161" y="2761555"/>
                </a:lnTo>
                <a:lnTo>
                  <a:pt x="0" y="27615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237559" y="2526198"/>
            <a:ext cx="4967229" cy="52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9244" indent="-329622" lvl="1">
              <a:lnSpc>
                <a:spcPts val="4274"/>
              </a:lnSpc>
              <a:buAutoNum type="arabicPeriod" startAt="1"/>
            </a:pPr>
            <a:r>
              <a:rPr lang="en-US" b="true" sz="305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45697" y="2330851"/>
            <a:ext cx="4312161" cy="522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9244" indent="-329622" lvl="1">
              <a:lnSpc>
                <a:spcPts val="4274"/>
              </a:lnSpc>
              <a:buAutoNum type="arabicPeriod" startAt="1"/>
            </a:pPr>
            <a:r>
              <a:rPr lang="en-US" b="true" sz="305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85759" y="6081218"/>
            <a:ext cx="7270828" cy="522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8224" indent="-329112" lvl="1">
              <a:lnSpc>
                <a:spcPts val="4268"/>
              </a:lnSpc>
              <a:buAutoNum type="arabicPeriod" startAt="1"/>
            </a:pPr>
            <a:r>
              <a:rPr lang="en-US" b="true" sz="304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23747" y="6081218"/>
            <a:ext cx="6956061" cy="522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8224" indent="-329112" lvl="1">
              <a:lnSpc>
                <a:spcPts val="4268"/>
              </a:lnSpc>
              <a:buAutoNum type="arabicPeriod" startAt="1"/>
            </a:pPr>
            <a:r>
              <a:rPr lang="en-US" b="true" sz="304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99633" y="973913"/>
            <a:ext cx="9688735" cy="1047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</a:pPr>
            <a:r>
              <a:rPr lang="en-US" b="true" sz="4621" spc="-40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CARD 08 - Acetaminophen (paracetamol)</a:t>
            </a:r>
          </a:p>
          <a:p>
            <a:pPr algn="ctr">
              <a:lnSpc>
                <a:spcPts val="3974"/>
              </a:lnSpc>
            </a:pPr>
            <a:r>
              <a:rPr lang="en-US" b="true" sz="4621" spc="-40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Molecular Formula: C₈H₉NO₂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61228" y="3113092"/>
            <a:ext cx="6186216" cy="2115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62"/>
              </a:lnSpc>
            </a:pPr>
            <a:r>
              <a:rPr lang="en-US" b="true" sz="1233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C₈H₉NO₂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3536" y="7129884"/>
            <a:ext cx="6981600" cy="2416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7"/>
              </a:lnSpc>
            </a:pPr>
            <a:r>
              <a:rPr lang="en-US" b="true" sz="687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HOC₆H₄NHCOCH₃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BBC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2191" y="388565"/>
            <a:ext cx="17023618" cy="9509871"/>
            <a:chOff x="0" y="0"/>
            <a:chExt cx="22698157" cy="1267982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6307"/>
              <a:ext cx="22698157" cy="12583521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698157" cy="2508433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54217"/>
              <a:ext cx="22698157" cy="1254217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581381" y="10099298"/>
              <a:ext cx="2233688" cy="7518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8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630" y="2280011"/>
            <a:ext cx="0" cy="7618425"/>
          </a:xfrm>
          <a:prstGeom prst="line">
            <a:avLst/>
          </a:prstGeom>
          <a:ln cap="flat" w="47625">
            <a:solidFill>
              <a:srgbClr val="ABBCD5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632191" y="5682515"/>
            <a:ext cx="17023618" cy="0"/>
          </a:xfrm>
          <a:prstGeom prst="line">
            <a:avLst/>
          </a:prstGeom>
          <a:ln cap="flat" w="47625">
            <a:solidFill>
              <a:srgbClr val="ABBCD5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1911220" y="6865396"/>
            <a:ext cx="2811384" cy="2917760"/>
          </a:xfrm>
          <a:custGeom>
            <a:avLst/>
            <a:gdLst/>
            <a:ahLst/>
            <a:cxnLst/>
            <a:rect r="r" b="b" t="t" l="l"/>
            <a:pathLst>
              <a:path h="2917760" w="2811384">
                <a:moveTo>
                  <a:pt x="0" y="0"/>
                </a:moveTo>
                <a:lnTo>
                  <a:pt x="2811384" y="0"/>
                </a:lnTo>
                <a:lnTo>
                  <a:pt x="2811384" y="2917761"/>
                </a:lnTo>
                <a:lnTo>
                  <a:pt x="0" y="29177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1325355" y="2816099"/>
            <a:ext cx="3674057" cy="2786110"/>
          </a:xfrm>
          <a:custGeom>
            <a:avLst/>
            <a:gdLst/>
            <a:ahLst/>
            <a:cxnLst/>
            <a:rect r="r" b="b" t="t" l="l"/>
            <a:pathLst>
              <a:path h="2786110" w="3674057">
                <a:moveTo>
                  <a:pt x="0" y="0"/>
                </a:moveTo>
                <a:lnTo>
                  <a:pt x="3674058" y="0"/>
                </a:lnTo>
                <a:lnTo>
                  <a:pt x="3674058" y="2786109"/>
                </a:lnTo>
                <a:lnTo>
                  <a:pt x="0" y="27861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308" t="-28214" r="-122493" b="-29777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212420" y="2516914"/>
            <a:ext cx="4985309" cy="531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2194" indent="-331097" lvl="1">
              <a:lnSpc>
                <a:spcPts val="4293"/>
              </a:lnSpc>
              <a:buAutoNum type="arabicPeriod" startAt="1"/>
            </a:pPr>
            <a:r>
              <a:rPr lang="en-US" b="true" sz="306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52983" y="2304990"/>
            <a:ext cx="4327857" cy="531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2194" indent="-331097" lvl="1">
              <a:lnSpc>
                <a:spcPts val="4293"/>
              </a:lnSpc>
              <a:buAutoNum type="arabicPeriod" startAt="1"/>
            </a:pPr>
            <a:r>
              <a:rPr lang="en-US" b="true" sz="306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6428" y="6084873"/>
            <a:ext cx="7297294" cy="53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1169" indent="-330584" lvl="1">
              <a:lnSpc>
                <a:spcPts val="4287"/>
              </a:lnSpc>
              <a:buAutoNum type="arabicPeriod" startAt="1"/>
            </a:pPr>
            <a:r>
              <a:rPr lang="en-US" b="true" sz="306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26221" y="6084873"/>
            <a:ext cx="6981381" cy="531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1169" indent="-330584" lvl="1">
              <a:lnSpc>
                <a:spcPts val="4287"/>
              </a:lnSpc>
              <a:buAutoNum type="arabicPeriod" startAt="1"/>
            </a:pPr>
            <a:r>
              <a:rPr lang="en-US" b="true" sz="3062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78956" y="879587"/>
            <a:ext cx="8737956" cy="1057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8"/>
              </a:lnSpc>
            </a:pPr>
            <a:r>
              <a:rPr lang="en-US" b="true" sz="4638" spc="-40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CARD 09 - Aspirin (acetylsalicylicacid)</a:t>
            </a:r>
          </a:p>
          <a:p>
            <a:pPr algn="ctr">
              <a:lnSpc>
                <a:spcPts val="3988"/>
              </a:lnSpc>
            </a:pPr>
            <a:r>
              <a:rPr lang="en-US" b="true" sz="4638" spc="-408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Molecular Formula: C₉H₈O₄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46770" y="2882466"/>
            <a:ext cx="5970955" cy="243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50"/>
              </a:lnSpc>
            </a:pPr>
            <a:r>
              <a:rPr lang="en-US" b="true" sz="1410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C₉H₈O₄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41396" y="7156719"/>
            <a:ext cx="6912326" cy="220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2"/>
              </a:lnSpc>
            </a:pPr>
            <a:r>
              <a:rPr lang="en-US" b="true" sz="631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CH₃COOC₆H₄COOH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BBC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5551" y="526609"/>
            <a:ext cx="16996898" cy="9494944"/>
            <a:chOff x="0" y="0"/>
            <a:chExt cx="22662530" cy="12659926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96156"/>
              <a:ext cx="22662530" cy="12563770"/>
              <a:chOff x="0" y="0"/>
              <a:chExt cx="2337075" cy="129564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2337075" cy="1295640"/>
              </a:xfrm>
              <a:custGeom>
                <a:avLst/>
                <a:gdLst/>
                <a:ahLst/>
                <a:cxnLst/>
                <a:rect r="r" b="b" t="t" l="l"/>
                <a:pathLst>
                  <a:path h="1295640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1253010"/>
                    </a:lnTo>
                    <a:cubicBezTo>
                      <a:pt x="2337075" y="1276554"/>
                      <a:pt x="2317989" y="1295640"/>
                      <a:pt x="2294445" y="1295640"/>
                    </a:cubicBezTo>
                    <a:lnTo>
                      <a:pt x="42630" y="1295640"/>
                    </a:lnTo>
                    <a:cubicBezTo>
                      <a:pt x="19086" y="1295640"/>
                      <a:pt x="0" y="1276554"/>
                      <a:pt x="0" y="1253010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7F7F7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61925"/>
                <a:ext cx="2337075" cy="14575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2662530" cy="2504496"/>
              <a:chOff x="0" y="0"/>
              <a:chExt cx="2337075" cy="25827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37075" cy="258276"/>
              </a:xfrm>
              <a:custGeom>
                <a:avLst/>
                <a:gdLst/>
                <a:ahLst/>
                <a:cxnLst/>
                <a:rect r="r" b="b" t="t" l="l"/>
                <a:pathLst>
                  <a:path h="258276" w="2337075">
                    <a:moveTo>
                      <a:pt x="42630" y="0"/>
                    </a:moveTo>
                    <a:lnTo>
                      <a:pt x="2294445" y="0"/>
                    </a:lnTo>
                    <a:cubicBezTo>
                      <a:pt x="2317989" y="0"/>
                      <a:pt x="2337075" y="19086"/>
                      <a:pt x="2337075" y="42630"/>
                    </a:cubicBezTo>
                    <a:lnTo>
                      <a:pt x="2337075" y="215646"/>
                    </a:lnTo>
                    <a:cubicBezTo>
                      <a:pt x="2337075" y="239190"/>
                      <a:pt x="2317989" y="258276"/>
                      <a:pt x="2294445" y="258276"/>
                    </a:cubicBezTo>
                    <a:lnTo>
                      <a:pt x="42630" y="258276"/>
                    </a:lnTo>
                    <a:cubicBezTo>
                      <a:pt x="19086" y="258276"/>
                      <a:pt x="0" y="239190"/>
                      <a:pt x="0" y="215646"/>
                    </a:cubicBezTo>
                    <a:lnTo>
                      <a:pt x="0" y="42630"/>
                    </a:lnTo>
                    <a:cubicBezTo>
                      <a:pt x="0" y="19086"/>
                      <a:pt x="19086" y="0"/>
                      <a:pt x="42630" y="0"/>
                    </a:cubicBez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2337075" cy="4202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1252248"/>
              <a:ext cx="22662530" cy="1252248"/>
              <a:chOff x="0" y="0"/>
              <a:chExt cx="2337075" cy="1291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337075" cy="129138"/>
              </a:xfrm>
              <a:custGeom>
                <a:avLst/>
                <a:gdLst/>
                <a:ahLst/>
                <a:cxnLst/>
                <a:rect r="r" b="b" t="t" l="l"/>
                <a:pathLst>
                  <a:path h="129138" w="2337075">
                    <a:moveTo>
                      <a:pt x="0" y="0"/>
                    </a:moveTo>
                    <a:lnTo>
                      <a:pt x="2337075" y="0"/>
                    </a:lnTo>
                    <a:lnTo>
                      <a:pt x="2337075" y="129138"/>
                    </a:lnTo>
                    <a:lnTo>
                      <a:pt x="0" y="129138"/>
                    </a:ln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61925"/>
                <a:ext cx="2337075" cy="2910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5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7553785" y="10083447"/>
              <a:ext cx="2230182" cy="7507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31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9133646" y="2415086"/>
            <a:ext cx="0" cy="7606467"/>
          </a:xfrm>
          <a:prstGeom prst="line">
            <a:avLst/>
          </a:prstGeom>
          <a:ln cap="flat" w="47625">
            <a:solidFill>
              <a:srgbClr val="ABBCD5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 flipV="true">
            <a:off x="645551" y="5812250"/>
            <a:ext cx="16996898" cy="0"/>
          </a:xfrm>
          <a:prstGeom prst="line">
            <a:avLst/>
          </a:prstGeom>
          <a:ln cap="flat" w="47625">
            <a:solidFill>
              <a:srgbClr val="ABBCD5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1824056" y="6893281"/>
            <a:ext cx="2972613" cy="2905053"/>
          </a:xfrm>
          <a:custGeom>
            <a:avLst/>
            <a:gdLst/>
            <a:ahLst/>
            <a:cxnLst/>
            <a:rect r="r" b="b" t="t" l="l"/>
            <a:pathLst>
              <a:path h="2905053" w="2972613">
                <a:moveTo>
                  <a:pt x="0" y="0"/>
                </a:moveTo>
                <a:lnTo>
                  <a:pt x="2972612" y="0"/>
                </a:lnTo>
                <a:lnTo>
                  <a:pt x="2972612" y="2905054"/>
                </a:lnTo>
                <a:lnTo>
                  <a:pt x="0" y="29050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1824056" y="3013448"/>
            <a:ext cx="2521522" cy="2632115"/>
          </a:xfrm>
          <a:custGeom>
            <a:avLst/>
            <a:gdLst/>
            <a:ahLst/>
            <a:cxnLst/>
            <a:rect r="r" b="b" t="t" l="l"/>
            <a:pathLst>
              <a:path h="2632115" w="2521522">
                <a:moveTo>
                  <a:pt x="0" y="0"/>
                </a:moveTo>
                <a:lnTo>
                  <a:pt x="2521521" y="0"/>
                </a:lnTo>
                <a:lnTo>
                  <a:pt x="2521521" y="2632114"/>
                </a:lnTo>
                <a:lnTo>
                  <a:pt x="0" y="26321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0640" t="-117611" r="-105202" b="-111723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223300" y="2651512"/>
            <a:ext cx="4977484" cy="53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0918" indent="-330459" lvl="1">
              <a:lnSpc>
                <a:spcPts val="4285"/>
              </a:lnSpc>
              <a:buAutoNum type="arabicPeriod" startAt="1"/>
            </a:pPr>
            <a:r>
              <a:rPr lang="en-US" b="true" sz="306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 Molecular Formula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64701" y="2478342"/>
            <a:ext cx="4321064" cy="531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0918" indent="-330459" lvl="1">
              <a:lnSpc>
                <a:spcPts val="4285"/>
              </a:lnSpc>
              <a:buAutoNum type="arabicPeriod" startAt="1"/>
            </a:pPr>
            <a:r>
              <a:rPr lang="en-US" b="true" sz="3061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 Lewis Structure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9122" y="6213872"/>
            <a:ext cx="7285840" cy="53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9895" indent="-329947" lvl="1">
              <a:lnSpc>
                <a:spcPts val="4279"/>
              </a:lnSpc>
              <a:buAutoNum type="arabicPeriod" startAt="1"/>
            </a:pPr>
            <a:r>
              <a:rPr lang="en-US" b="true" sz="305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Condensed Structural Formula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25151" y="6213872"/>
            <a:ext cx="6970423" cy="53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59895" indent="-329947" lvl="1">
              <a:lnSpc>
                <a:spcPts val="4279"/>
              </a:lnSpc>
              <a:buAutoNum type="arabicPeriod" startAt="1"/>
            </a:pPr>
            <a:r>
              <a:rPr lang="en-US" b="true" sz="3056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Bond-Line Formula (Ketcher)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81915" y="1081652"/>
            <a:ext cx="7303461" cy="1066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2"/>
              </a:lnSpc>
            </a:pPr>
            <a:r>
              <a:rPr lang="en-US" b="true" sz="4630" spc="-40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CARD 10 - Caffeine</a:t>
            </a:r>
          </a:p>
          <a:p>
            <a:pPr algn="ctr">
              <a:lnSpc>
                <a:spcPts val="3982"/>
              </a:lnSpc>
            </a:pPr>
            <a:r>
              <a:rPr lang="en-US" b="true" sz="4630" spc="-407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Molecular Formula: C₈H₁₀N₄O₂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2050" y="3330501"/>
            <a:ext cx="6852911" cy="1959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23"/>
              </a:lnSpc>
            </a:pPr>
            <a:r>
              <a:rPr lang="en-US" b="true" sz="1137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C₈H₁₀N₄O₂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5586" y="6888409"/>
            <a:ext cx="6852911" cy="1959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23"/>
              </a:lnSpc>
            </a:pPr>
            <a:r>
              <a:rPr lang="en-US" b="true" sz="11373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Roboto Bold"/>
                <a:ea typeface="Roboto Bold"/>
                <a:cs typeface="Roboto Bold"/>
                <a:sym typeface="Roboto Bold"/>
              </a:rPr>
              <a:t>C₈H₁₀N₄O₂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DAHXEJF7Onw</dc:identifier>
  <dcterms:modified xsi:type="dcterms:W3CDTF">2011-08-01T06:04:30Z</dcterms:modified>
  <cp:revision>1</cp:revision>
  <dc:title>002_one_molecule_four_representations_jadan</dc:title>
</cp:coreProperties>
</file>